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063FB-108B-C889-568E-755F6B1727A5}" v="14" dt="2026-05-09T18:37:54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9EB93D6-8AA7-4754-B99E-FB96702C42B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94841AD-9EBE-4FB9-91D7-9A8CEDE11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080493F-B399-4158-B250-D794B099A1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4"/>
          <p:cNvSpPr/>
          <p:nvPr/>
        </p:nvSpPr>
        <p:spPr>
          <a:xfrm>
            <a:off x="603000" y="1824120"/>
            <a:ext cx="4287600" cy="38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999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PathVQA: Data Preprocessing Pipeline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/>
          <p:cNvSpPr/>
          <p:nvPr/>
        </p:nvSpPr>
        <p:spPr>
          <a:xfrm>
            <a:off x="603000" y="2441160"/>
            <a:ext cx="4634640" cy="74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8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A walkthrough of text cleaning, tokenization, label encoding, and image preprocessing for the </a:t>
            </a:r>
            <a:r>
              <a:rPr lang="en-US" sz="1200" b="1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PathVQA</a:t>
            </a: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dataset — a vision-and-language benchmark built on pathology images paired with clinical questions.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603000" y="3590640"/>
            <a:ext cx="2126520" cy="299160"/>
          </a:xfrm>
          <a:prstGeom prst="roundRect">
            <a:avLst>
              <a:gd name="adj" fmla="val 17306"/>
            </a:avLst>
          </a:prstGeom>
          <a:noFill/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5120" y="3603600"/>
            <a:ext cx="1432800" cy="19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CCCCC"/>
                </a:solidFill>
                <a:effectLst/>
                <a:uFillTx/>
                <a:latin typeface="Patrick Hand"/>
                <a:ea typeface="Patrick Hand"/>
              </a:rPr>
              <a:t>FLAVIAGIAMMARINO/PATH-VQA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2798640" y="3593880"/>
            <a:ext cx="1697400" cy="299160"/>
          </a:xfrm>
          <a:prstGeom prst="roundRect">
            <a:avLst>
              <a:gd name="adj" fmla="val 17306"/>
            </a:avLst>
          </a:prstGeom>
          <a:noFill/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2834640" y="3593880"/>
            <a:ext cx="1116720" cy="19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CCCCC"/>
                </a:solidFill>
                <a:effectLst/>
                <a:uFillTx/>
                <a:latin typeface="Patrick Hand"/>
                <a:ea typeface="Patrick Hand"/>
              </a:rPr>
              <a:t>HUGGINGFACE DATASETS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4659480" y="3576600"/>
            <a:ext cx="396360" cy="299160"/>
          </a:xfrm>
          <a:prstGeom prst="roundRect">
            <a:avLst>
              <a:gd name="adj" fmla="val 17306"/>
            </a:avLst>
          </a:prstGeom>
          <a:noFill/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701240" y="3621240"/>
            <a:ext cx="201600" cy="19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CCCCC"/>
                </a:solidFill>
                <a:effectLst/>
                <a:uFillTx/>
                <a:latin typeface="Patrick Hand"/>
                <a:ea typeface="Patrick Hand"/>
              </a:rPr>
              <a:t>VILT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1" descr="preencoded.png"/>
          <p:cNvPicPr/>
          <p:nvPr/>
        </p:nvPicPr>
        <p:blipFill>
          <a:blip r:embed="rId2"/>
          <a:stretch/>
        </p:blipFill>
        <p:spPr>
          <a:xfrm>
            <a:off x="6651360" y="0"/>
            <a:ext cx="3428640" cy="567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797040" y="611280"/>
            <a:ext cx="30708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01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About the PathVQA Dataset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preencoded.png"/>
          <p:cNvPicPr/>
          <p:nvPr/>
        </p:nvPicPr>
        <p:blipFill>
          <a:blip r:embed="rId2"/>
          <a:stretch/>
        </p:blipFill>
        <p:spPr>
          <a:xfrm>
            <a:off x="797040" y="1526760"/>
            <a:ext cx="5377680" cy="314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1"/>
          <p:cNvSpPr/>
          <p:nvPr/>
        </p:nvSpPr>
        <p:spPr>
          <a:xfrm>
            <a:off x="6443640" y="844920"/>
            <a:ext cx="15346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What is PathVQA?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6443640" y="1184040"/>
            <a:ext cx="2722320" cy="139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PathVQA is a medical Visual Question Answering dataset composed of pathology images paired with clinically grounded questions. It tests a model's ability to interpret microscopic tissue images and answer both </a:t>
            </a:r>
            <a:r>
              <a:rPr lang="en-US" sz="1200" b="1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yes/no</a:t>
            </a: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and </a:t>
            </a:r>
            <a:r>
              <a:rPr lang="en-US" sz="1200" b="1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open-ended</a:t>
            </a: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questions.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6554520" y="3184200"/>
            <a:ext cx="2722320" cy="177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>
              <a:lnSpc>
                <a:spcPts val="1749"/>
              </a:lnSpc>
              <a:buClr>
                <a:srgbClr val="383838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Train / Validation / Test</a:t>
            </a: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splits available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383838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Questions span color, location, morphology, and presence of structures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383838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Answers range from binary ("yes"/"no") to free-form 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383838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Hosted on HuggingFace as </a:t>
            </a:r>
            <a:r>
              <a:rPr lang="en-US" sz="1200" b="0" u="none" strike="noStrike">
                <a:solidFill>
                  <a:srgbClr val="383838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flaviagiammarino/path-vqa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13"/>
          <p:cNvSpPr/>
          <p:nvPr/>
        </p:nvSpPr>
        <p:spPr>
          <a:xfrm>
            <a:off x="613800" y="414720"/>
            <a:ext cx="3167640" cy="38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900"/>
              </a:lnSpc>
              <a:tabLst>
                <a:tab pos="0" algn="l"/>
              </a:tabLst>
            </a:pPr>
            <a:r>
              <a:rPr lang="en-US" sz="23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Loading the Dataset</a:t>
            </a:r>
            <a:endParaRPr lang="en-US" sz="2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613800" y="1200240"/>
            <a:ext cx="4545360" cy="2519640"/>
          </a:xfrm>
          <a:prstGeom prst="roundRect">
            <a:avLst>
              <a:gd name="adj" fmla="val 2597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605880" y="1200240"/>
            <a:ext cx="4560840" cy="2519640"/>
          </a:xfrm>
          <a:prstGeom prst="roundRect">
            <a:avLst>
              <a:gd name="adj" fmla="val 927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804240" y="1356120"/>
            <a:ext cx="4164840" cy="220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from datasets import load_dataset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851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ds = load_dataset(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"flaviagiammarino/path-vqa",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cache_dir="E:/huggingface_cache"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851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# Splits: train, validation, test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print(ds)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5550840" y="1181160"/>
            <a:ext cx="1583280" cy="19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What This Does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5550840" y="1527120"/>
            <a:ext cx="3648240" cy="74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The </a:t>
            </a:r>
            <a:r>
              <a:rPr lang="en-US" sz="1150" b="0" u="none" strike="noStrike">
                <a:solidFill>
                  <a:srgbClr val="383838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load_dataset</a:t>
            </a: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call downloads all three splits — </a:t>
            </a:r>
            <a:r>
              <a:rPr lang="en-US" sz="1150" b="1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train</a:t>
            </a: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, </a:t>
            </a:r>
            <a:r>
              <a:rPr lang="en-US" sz="1150" b="1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validation</a:t>
            </a: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, and </a:t>
            </a:r>
            <a:r>
              <a:rPr lang="en-US" sz="1150" b="1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test</a:t>
            </a: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— and caches them locally to avoid repeated downloads. Each example contains three fields: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613800" y="4059720"/>
            <a:ext cx="2757600" cy="851760"/>
          </a:xfrm>
          <a:prstGeom prst="roundRect">
            <a:avLst>
              <a:gd name="adj" fmla="val 7680"/>
            </a:avLst>
          </a:prstGeom>
          <a:solidFill>
            <a:srgbClr val="E6E6E6"/>
          </a:solidFill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1"/>
          <p:cNvSpPr/>
          <p:nvPr/>
        </p:nvSpPr>
        <p:spPr>
          <a:xfrm>
            <a:off x="777240" y="4220280"/>
            <a:ext cx="1583280" cy="19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image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2"/>
          <p:cNvSpPr/>
          <p:nvPr/>
        </p:nvSpPr>
        <p:spPr>
          <a:xfrm>
            <a:off x="777240" y="4505400"/>
            <a:ext cx="2430720" cy="24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PIL Image object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3525120" y="4059720"/>
            <a:ext cx="2757600" cy="851760"/>
          </a:xfrm>
          <a:prstGeom prst="roundRect">
            <a:avLst>
              <a:gd name="adj" fmla="val 7680"/>
            </a:avLst>
          </a:prstGeom>
          <a:solidFill>
            <a:srgbClr val="E6E6E6"/>
          </a:solidFill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3688560" y="4220280"/>
            <a:ext cx="1583280" cy="19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question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4"/>
          <p:cNvSpPr/>
          <p:nvPr/>
        </p:nvSpPr>
        <p:spPr>
          <a:xfrm>
            <a:off x="3688560" y="4505400"/>
            <a:ext cx="2430720" cy="24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Raw string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6436440" y="4059720"/>
            <a:ext cx="2757600" cy="851760"/>
          </a:xfrm>
          <a:prstGeom prst="roundRect">
            <a:avLst>
              <a:gd name="adj" fmla="val 7680"/>
            </a:avLst>
          </a:prstGeom>
          <a:solidFill>
            <a:srgbClr val="E6E6E6"/>
          </a:solidFill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5"/>
          <p:cNvSpPr/>
          <p:nvPr/>
        </p:nvSpPr>
        <p:spPr>
          <a:xfrm>
            <a:off x="6599880" y="4220280"/>
            <a:ext cx="1583280" cy="19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answer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6"/>
          <p:cNvSpPr/>
          <p:nvPr/>
        </p:nvSpPr>
        <p:spPr>
          <a:xfrm>
            <a:off x="6599880" y="4505400"/>
            <a:ext cx="2430720" cy="24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8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Raw string label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9"/>
          <p:cNvSpPr/>
          <p:nvPr/>
        </p:nvSpPr>
        <p:spPr>
          <a:xfrm>
            <a:off x="576000" y="1929240"/>
            <a:ext cx="4717080" cy="53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999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Step 1 — Text Cleaning &amp; Normalization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576000" y="2787480"/>
            <a:ext cx="4882680" cy="102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8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Raw text from crowdsourced or medical annotations is often noisy. A consistent normalization function is applied to both </a:t>
            </a:r>
            <a:r>
              <a:rPr lang="en-US" sz="1200" b="1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questions</a:t>
            </a: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and </a:t>
            </a:r>
            <a:r>
              <a:rPr lang="en-US" sz="1200" b="1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answers</a:t>
            </a: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before any modeling.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2" descr="preencoded.png"/>
          <p:cNvPicPr/>
          <p:nvPr/>
        </p:nvPicPr>
        <p:blipFill>
          <a:blip r:embed="rId2"/>
          <a:stretch/>
        </p:blipFill>
        <p:spPr>
          <a:xfrm>
            <a:off x="6449040" y="0"/>
            <a:ext cx="3630960" cy="567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11"/>
          <p:cNvSpPr/>
          <p:nvPr/>
        </p:nvSpPr>
        <p:spPr>
          <a:xfrm>
            <a:off x="847440" y="426960"/>
            <a:ext cx="3755160" cy="38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65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Text Cleaning: Code Walkthrough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847440" y="1171080"/>
            <a:ext cx="4578480" cy="4031280"/>
          </a:xfrm>
          <a:prstGeom prst="roundRect">
            <a:avLst>
              <a:gd name="adj" fmla="val 1616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839160" y="1171080"/>
            <a:ext cx="4594680" cy="4031280"/>
          </a:xfrm>
          <a:prstGeom prst="roundRect">
            <a:avLst>
              <a:gd name="adj" fmla="val 577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1035000" y="1326240"/>
            <a:ext cx="4203000" cy="37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import 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def clean_text(text):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if text is None: return ""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text = str(text).lower()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text = text.strip()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text = re.sub(r"\s+", " ", text)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text = re.sub(r"[^\w\s]", "", text)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return text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def preprocess_text(example):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example["question"] = clean_text(example["question"])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example["answer"]   = clean_text(example["answer"])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return example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clean_ds = ds.map(preprocess_text)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5814000" y="1153800"/>
            <a:ext cx="156420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Operations Applied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872320" y="1504800"/>
            <a:ext cx="234000" cy="23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18"/>
          <p:cNvSpPr/>
          <p:nvPr/>
        </p:nvSpPr>
        <p:spPr>
          <a:xfrm>
            <a:off x="6321960" y="1500480"/>
            <a:ext cx="1564560" cy="19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Lowercase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6321960" y="1829520"/>
            <a:ext cx="3168360" cy="46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Reduces vocabulary size and avoids case-sensitive duplicates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872320" y="2571120"/>
            <a:ext cx="234000" cy="2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20"/>
          <p:cNvSpPr/>
          <p:nvPr/>
        </p:nvSpPr>
        <p:spPr>
          <a:xfrm>
            <a:off x="6321960" y="2566080"/>
            <a:ext cx="158616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Strip &amp; Collapse Whitespace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7"/>
          <p:cNvSpPr/>
          <p:nvPr/>
        </p:nvSpPr>
        <p:spPr>
          <a:xfrm>
            <a:off x="6321960" y="2896200"/>
            <a:ext cx="3168360" cy="46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Removes leading/trailing spaces and collapses internal whitespace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872320" y="3637440"/>
            <a:ext cx="234000" cy="23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28"/>
          <p:cNvSpPr/>
          <p:nvPr/>
        </p:nvSpPr>
        <p:spPr>
          <a:xfrm>
            <a:off x="6321960" y="3632400"/>
            <a:ext cx="1564560" cy="19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Punctuation Removal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9"/>
          <p:cNvSpPr/>
          <p:nvPr/>
        </p:nvSpPr>
        <p:spPr>
          <a:xfrm>
            <a:off x="6321960" y="3962160"/>
            <a:ext cx="316836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Strips all non-word, non-space characters via regex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30"/>
          <p:cNvSpPr/>
          <p:nvPr/>
        </p:nvSpPr>
        <p:spPr>
          <a:xfrm>
            <a:off x="1228680" y="330120"/>
            <a:ext cx="4051080" cy="32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Step 2 — Building the Answer Vocabulary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1228680" y="903240"/>
            <a:ext cx="3614040" cy="4569120"/>
          </a:xfrm>
          <a:prstGeom prst="roundRect">
            <a:avLst>
              <a:gd name="adj" fmla="val 1592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1221840" y="903240"/>
            <a:ext cx="3628080" cy="4569120"/>
          </a:xfrm>
          <a:prstGeom prst="roundRect">
            <a:avLst>
              <a:gd name="adj" fmla="val 566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1"/>
          <p:cNvSpPr/>
          <p:nvPr/>
        </p:nvSpPr>
        <p:spPr>
          <a:xfrm>
            <a:off x="1393200" y="1033560"/>
            <a:ext cx="3285000" cy="43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from collections import Counter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TOP_K_ANSWERS = </a:t>
            </a:r>
            <a:r>
              <a:rPr lang="en-US" sz="1000">
                <a:solidFill>
                  <a:srgbClr val="22863A"/>
                </a:solidFill>
                <a:highlight>
                  <a:srgbClr val="EAEAEA"/>
                </a:highlight>
                <a:latin typeface="Consolas"/>
                <a:ea typeface="Consolas"/>
              </a:rPr>
              <a:t>1250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 dirty="0" err="1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answer_counts</a:t>
            </a: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= Counter(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</a:t>
            </a:r>
            <a:r>
              <a:rPr lang="en-US" sz="1000" b="0" u="none" strike="noStrike" dirty="0" err="1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clean_ds</a:t>
            </a: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["train"]["answer"]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 dirty="0" err="1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most_common_answers</a:t>
            </a: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= [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answer for answer, 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in </a:t>
            </a:r>
            <a:r>
              <a:rPr lang="en-US" sz="1000" b="0" u="none" strike="noStrike" dirty="0" err="1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answer_counts.most_common</a:t>
            </a: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(TOP_K_ANSWERS)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answer2id = {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answer: </a:t>
            </a:r>
            <a:r>
              <a:rPr lang="en-US" sz="1000" b="0" u="none" strike="noStrike" dirty="0" err="1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idx</a:t>
            </a:r>
            <a:endParaRPr lang="en-US" sz="1000" b="0" u="none" strike="noStrike" dirty="0" err="1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for </a:t>
            </a:r>
            <a:r>
              <a:rPr lang="en-US" sz="1000" b="0" u="none" strike="noStrike" dirty="0" err="1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idx</a:t>
            </a: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, answer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in enumerate(</a:t>
            </a:r>
            <a:r>
              <a:rPr lang="en-US" sz="1000" b="0" u="none" strike="noStrike" dirty="0" err="1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most_common_answers</a:t>
            </a: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)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id2answer = {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</a:t>
            </a:r>
            <a:r>
              <a:rPr lang="en-US" sz="1000" b="0" u="none" strike="noStrike" dirty="0" err="1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idx</a:t>
            </a: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: answer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for answer, </a:t>
            </a:r>
            <a:r>
              <a:rPr lang="en-US" sz="1000" b="0" u="none" strike="noStrike" dirty="0" err="1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idx</a:t>
            </a:r>
            <a:r>
              <a:rPr lang="en-US" sz="1000" b="0" u="none" strike="noStrike" dirty="0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in answer2id.items()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2"/>
          <p:cNvSpPr/>
          <p:nvPr/>
        </p:nvSpPr>
        <p:spPr>
          <a:xfrm>
            <a:off x="5183280" y="891360"/>
            <a:ext cx="136980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04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Why Top-K?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3"/>
          <p:cNvSpPr/>
          <p:nvPr/>
        </p:nvSpPr>
        <p:spPr>
          <a:xfrm>
            <a:off x="5183280" y="1148400"/>
            <a:ext cx="3614040" cy="71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VQA is framed as </a:t>
            </a:r>
            <a:r>
              <a:rPr lang="en-US" sz="1100" b="1" u="none" strike="noStrike" dirty="0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multi-class classification</a:t>
            </a:r>
            <a:r>
              <a:rPr lang="en-US" sz="1100" b="0" u="none" strike="noStrike" dirty="0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. Instead of generative </a:t>
            </a:r>
            <a:r>
              <a:rPr lang="en-US" sz="11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decoding, we predict over a fixed vocabulary of the </a:t>
            </a:r>
            <a:r>
              <a:rPr lang="en-US" sz="1100">
                <a:solidFill>
                  <a:srgbClr val="383838"/>
                </a:solidFill>
                <a:latin typeface="Patrick Hand"/>
                <a:ea typeface="Patrick Hand"/>
              </a:rPr>
              <a:t>1,250 most</a:t>
            </a:r>
            <a:r>
              <a:rPr lang="en-US" sz="11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frequent </a:t>
            </a:r>
            <a:r>
              <a:rPr lang="en-US" sz="1100" b="0" u="none" strike="noStrike" dirty="0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training answers. Rare answers are filtered out to reduce noise and class imbalance.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3"/>
          <p:cNvSpPr/>
          <p:nvPr/>
        </p:nvSpPr>
        <p:spPr>
          <a:xfrm>
            <a:off x="5183280" y="1972080"/>
            <a:ext cx="3614040" cy="820440"/>
          </a:xfrm>
          <a:prstGeom prst="roundRect">
            <a:avLst>
              <a:gd name="adj" fmla="val 6688"/>
            </a:avLst>
          </a:prstGeom>
          <a:solidFill>
            <a:srgbClr val="B6D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6" descr="preencoded.png"/>
          <p:cNvPicPr/>
          <p:nvPr/>
        </p:nvPicPr>
        <p:blipFill>
          <a:blip r:embed="rId2"/>
          <a:stretch/>
        </p:blipFill>
        <p:spPr>
          <a:xfrm>
            <a:off x="5320080" y="2156040"/>
            <a:ext cx="171000" cy="12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34"/>
          <p:cNvSpPr/>
          <p:nvPr/>
        </p:nvSpPr>
        <p:spPr>
          <a:xfrm>
            <a:off x="5628240" y="2098800"/>
            <a:ext cx="3032280" cy="54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The resulting </a:t>
            </a:r>
            <a:r>
              <a:rPr lang="en-US" sz="1000" b="0" u="none" strike="noStrike">
                <a:solidFill>
                  <a:srgbClr val="000000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answer2id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 and </a:t>
            </a:r>
            <a:r>
              <a:rPr lang="en-US" sz="1000" b="0" u="none" strike="noStrike">
                <a:solidFill>
                  <a:srgbClr val="000000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id2answer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 dicts serve as the bidirectional mapping between string labels and integer class indices throughout training and evaluation.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35"/>
          <p:cNvSpPr/>
          <p:nvPr/>
        </p:nvSpPr>
        <p:spPr>
          <a:xfrm>
            <a:off x="1046520" y="404280"/>
            <a:ext cx="339228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Step 3 — Filtering Rare Answers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1046520" y="1082520"/>
            <a:ext cx="4289400" cy="4113000"/>
          </a:xfrm>
          <a:prstGeom prst="roundRect">
            <a:avLst>
              <a:gd name="adj" fmla="val 1483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1039320" y="1082520"/>
            <a:ext cx="4304160" cy="4113000"/>
          </a:xfrm>
          <a:prstGeom prst="roundRect">
            <a:avLst>
              <a:gd name="adj" fmla="val 530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6"/>
          <p:cNvSpPr/>
          <p:nvPr/>
        </p:nvSpPr>
        <p:spPr>
          <a:xfrm>
            <a:off x="1222200" y="1227960"/>
            <a:ext cx="3937680" cy="382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from datasets import DatasetDict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valid_answers = set(answer2id.keys())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def keep_top_answers(example):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return example["answer"] in valid_answers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filtered_ds = DatasetDict({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split: clean_ds[split].filter(keep_top_answers)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for split in clean_ds.keys()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})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# Retention summary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for split in filtered_ds: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original = len(clean_ds[split])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kept     = len(filtered_ds[split])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pct      = kept / original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print(f"{split}: {kept:,}/{original:,} ({pct:.1%})")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7"/>
          <p:cNvSpPr/>
          <p:nvPr/>
        </p:nvSpPr>
        <p:spPr>
          <a:xfrm>
            <a:off x="5699520" y="1067760"/>
            <a:ext cx="146556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25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What Gets Removed?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8"/>
          <p:cNvSpPr/>
          <p:nvPr/>
        </p:nvSpPr>
        <p:spPr>
          <a:xfrm>
            <a:off x="5699520" y="1369440"/>
            <a:ext cx="344448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Any example whose answer does not appear in the top-8,000 vocabulary is dropped. This keeps the label space tractable and removes extremely rare or malformed answers.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5699520" y="2142000"/>
            <a:ext cx="3444480" cy="761400"/>
          </a:xfrm>
          <a:prstGeom prst="roundRect">
            <a:avLst>
              <a:gd name="adj" fmla="val 8005"/>
            </a:avLst>
          </a:prstGeom>
          <a:solidFill>
            <a:srgbClr val="B6F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7" descr="preencoded.png"/>
          <p:cNvPicPr/>
          <p:nvPr/>
        </p:nvPicPr>
        <p:blipFill>
          <a:blip r:embed="rId2"/>
          <a:stretch/>
        </p:blipFill>
        <p:spPr>
          <a:xfrm>
            <a:off x="5846040" y="2353680"/>
            <a:ext cx="182880" cy="14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39"/>
          <p:cNvSpPr/>
          <p:nvPr/>
        </p:nvSpPr>
        <p:spPr>
          <a:xfrm>
            <a:off x="6175800" y="2298600"/>
            <a:ext cx="2821320" cy="4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Typical retention is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&gt;95%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 of training examples — the long tail of answers is small but noisy.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7"/>
          <p:cNvSpPr/>
          <p:nvPr/>
        </p:nvSpPr>
        <p:spPr>
          <a:xfrm>
            <a:off x="5699520" y="3039120"/>
            <a:ext cx="3444480" cy="761760"/>
          </a:xfrm>
          <a:prstGeom prst="roundRect">
            <a:avLst>
              <a:gd name="adj" fmla="val 8005"/>
            </a:avLst>
          </a:prstGeom>
          <a:solidFill>
            <a:srgbClr val="FCF2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8" descr="preencoded.png"/>
          <p:cNvPicPr/>
          <p:nvPr/>
        </p:nvPicPr>
        <p:blipFill>
          <a:blip r:embed="rId3"/>
          <a:stretch/>
        </p:blipFill>
        <p:spPr>
          <a:xfrm>
            <a:off x="5846040" y="3250800"/>
            <a:ext cx="182880" cy="14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40"/>
          <p:cNvSpPr/>
          <p:nvPr/>
        </p:nvSpPr>
        <p:spPr>
          <a:xfrm>
            <a:off x="6175800" y="3196080"/>
            <a:ext cx="2821320" cy="42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Validation and test sets are filtered using the 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training vocabulary only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 to prevent label leakage.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41"/>
          <p:cNvSpPr/>
          <p:nvPr/>
        </p:nvSpPr>
        <p:spPr>
          <a:xfrm>
            <a:off x="1179720" y="365760"/>
            <a:ext cx="3272760" cy="3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Step 4 — Adding Numeric Labels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8"/>
          <p:cNvSpPr/>
          <p:nvPr/>
        </p:nvSpPr>
        <p:spPr>
          <a:xfrm>
            <a:off x="1179720" y="1731600"/>
            <a:ext cx="4193280" cy="2583720"/>
          </a:xfrm>
          <a:prstGeom prst="roundRect">
            <a:avLst>
              <a:gd name="adj" fmla="val 2183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9"/>
          <p:cNvSpPr/>
          <p:nvPr/>
        </p:nvSpPr>
        <p:spPr>
          <a:xfrm>
            <a:off x="1172520" y="1731600"/>
            <a:ext cx="4207680" cy="2583720"/>
          </a:xfrm>
          <a:prstGeom prst="roundRect">
            <a:avLst>
              <a:gd name="adj" fmla="val 780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2"/>
          <p:cNvSpPr/>
          <p:nvPr/>
        </p:nvSpPr>
        <p:spPr>
          <a:xfrm>
            <a:off x="1351800" y="1865520"/>
            <a:ext cx="3849120" cy="231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def add_label(example):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example["label"] = answer2id[example["answer"]]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return example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labeled_ds = filtered_ds.map(add_label)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print(labeled_ds["train"][0])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# 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#   "question": "what color is the tissue",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#   "answer":   "pink",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#   "label":   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3A49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# 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3"/>
          <p:cNvSpPr/>
          <p:nvPr/>
        </p:nvSpPr>
        <p:spPr>
          <a:xfrm>
            <a:off x="5728320" y="969480"/>
            <a:ext cx="143280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Integer Labels for PyTorch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4"/>
          <p:cNvSpPr/>
          <p:nvPr/>
        </p:nvSpPr>
        <p:spPr>
          <a:xfrm>
            <a:off x="5728320" y="1243800"/>
            <a:ext cx="3367080" cy="57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Each string answer is replaced with its corresponding integer index. This </a:t>
            </a:r>
            <a:r>
              <a:rPr lang="en-US" sz="1200" b="0" u="none" strike="noStrike">
                <a:solidFill>
                  <a:srgbClr val="383838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label</a:t>
            </a: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field is later used directly as the target in </a:t>
            </a:r>
            <a:r>
              <a:rPr lang="en-US" sz="1200" b="0" u="none" strike="noStrike">
                <a:solidFill>
                  <a:srgbClr val="383838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CrossEntropyLoss</a:t>
            </a:r>
            <a:r>
              <a:rPr lang="en-US" sz="12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during fine-tuning.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9" descr="preencoded.png"/>
          <p:cNvPicPr/>
          <p:nvPr/>
        </p:nvPicPr>
        <p:blipFill>
          <a:blip r:embed="rId2"/>
          <a:stretch/>
        </p:blipFill>
        <p:spPr>
          <a:xfrm>
            <a:off x="6668280" y="1943280"/>
            <a:ext cx="1487520" cy="312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45"/>
          <p:cNvSpPr/>
          <p:nvPr/>
        </p:nvSpPr>
        <p:spPr>
          <a:xfrm>
            <a:off x="7026120" y="3368160"/>
            <a:ext cx="759600" cy="26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9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Answer↔ID Mapping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6"/>
          <p:cNvSpPr/>
          <p:nvPr/>
        </p:nvSpPr>
        <p:spPr>
          <a:xfrm>
            <a:off x="6852240" y="4446360"/>
            <a:ext cx="1112400" cy="12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9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Integer to String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7"/>
          <p:cNvSpPr/>
          <p:nvPr/>
        </p:nvSpPr>
        <p:spPr>
          <a:xfrm>
            <a:off x="6827760" y="4623480"/>
            <a:ext cx="1161720" cy="11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7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3 → id2answer → "pink"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8"/>
          <p:cNvSpPr/>
          <p:nvPr/>
        </p:nvSpPr>
        <p:spPr>
          <a:xfrm>
            <a:off x="6846840" y="2250360"/>
            <a:ext cx="1112400" cy="12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9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String to Integer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9"/>
          <p:cNvSpPr/>
          <p:nvPr/>
        </p:nvSpPr>
        <p:spPr>
          <a:xfrm>
            <a:off x="6822000" y="2427480"/>
            <a:ext cx="1162080" cy="11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7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"pink" → answer2id →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50"/>
          <p:cNvSpPr/>
          <p:nvPr/>
        </p:nvSpPr>
        <p:spPr>
          <a:xfrm>
            <a:off x="1844640" y="285480"/>
            <a:ext cx="40248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899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Step 5 — Tokenization &amp; Image Preprocessing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0"/>
          <p:cNvSpPr/>
          <p:nvPr/>
        </p:nvSpPr>
        <p:spPr>
          <a:xfrm>
            <a:off x="1844640" y="755640"/>
            <a:ext cx="3565080" cy="4647960"/>
          </a:xfrm>
          <a:prstGeom prst="roundRect">
            <a:avLst>
              <a:gd name="adj" fmla="val 1435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1"/>
          <p:cNvSpPr/>
          <p:nvPr/>
        </p:nvSpPr>
        <p:spPr>
          <a:xfrm>
            <a:off x="1846899" y="747620"/>
            <a:ext cx="3569301" cy="4720144"/>
          </a:xfrm>
          <a:prstGeom prst="roundRect">
            <a:avLst>
              <a:gd name="adj" fmla="val 511"/>
            </a:avLst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1"/>
          <p:cNvSpPr/>
          <p:nvPr/>
        </p:nvSpPr>
        <p:spPr>
          <a:xfrm>
            <a:off x="1991160" y="867600"/>
            <a:ext cx="3272400" cy="442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from transformers import ViltProcessor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processor = ViltProcessor.from_pretrained(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"dandelin/vilt-b32-mlm"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def preprocess_for_vilt(example):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encoding = processor(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images=example["image"].convert("RGB"),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text=example["question"],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padding="max_length",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truncation=True,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max_length=40,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return_tensors="pt"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return {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"input_ids":      encoding["input_ids"].squeeze(),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"attention_mask": encoding["attention_mask"].squeeze(),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"token_type_ids": encoding["token_type_ids"].squeeze(),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"pixel_values":   encoding["pixel_values"].squeeze(),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"pixel_mask":     encoding["pixel_mask"].squeeze(),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    "labels":         example["label"]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processed_ds = labeled_ds.map(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preprocess_for_vilt,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    remove_columns=labeled_ds["train"].column_names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863A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2"/>
          <p:cNvSpPr/>
          <p:nvPr/>
        </p:nvSpPr>
        <p:spPr>
          <a:xfrm>
            <a:off x="5713200" y="746280"/>
            <a:ext cx="1218240" cy="14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9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ViLT Processor Outputs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2"/>
          <p:cNvSpPr/>
          <p:nvPr/>
        </p:nvSpPr>
        <p:spPr>
          <a:xfrm>
            <a:off x="5713200" y="967680"/>
            <a:ext cx="1392120" cy="764280"/>
          </a:xfrm>
          <a:prstGeom prst="roundRect">
            <a:avLst>
              <a:gd name="adj" fmla="val 6174"/>
            </a:avLst>
          </a:prstGeom>
          <a:solidFill>
            <a:srgbClr val="F7F7F7"/>
          </a:solidFill>
          <a:ln w="1440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3"/>
          <p:cNvSpPr/>
          <p:nvPr/>
        </p:nvSpPr>
        <p:spPr>
          <a:xfrm>
            <a:off x="5852880" y="1096200"/>
            <a:ext cx="1113120" cy="14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95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input_ids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4"/>
          <p:cNvSpPr/>
          <p:nvPr/>
        </p:nvSpPr>
        <p:spPr>
          <a:xfrm>
            <a:off x="5852880" y="1308600"/>
            <a:ext cx="111312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Tokenized question IDs (padded to 40)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3"/>
          <p:cNvSpPr/>
          <p:nvPr/>
        </p:nvSpPr>
        <p:spPr>
          <a:xfrm>
            <a:off x="7183800" y="967680"/>
            <a:ext cx="1392120" cy="764280"/>
          </a:xfrm>
          <a:prstGeom prst="roundRect">
            <a:avLst>
              <a:gd name="adj" fmla="val 6174"/>
            </a:avLst>
          </a:prstGeom>
          <a:solidFill>
            <a:srgbClr val="F7F7F7"/>
          </a:solidFill>
          <a:ln w="1440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5"/>
          <p:cNvSpPr/>
          <p:nvPr/>
        </p:nvSpPr>
        <p:spPr>
          <a:xfrm>
            <a:off x="7323120" y="1096200"/>
            <a:ext cx="1113480" cy="14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95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attention_mask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6"/>
          <p:cNvSpPr/>
          <p:nvPr/>
        </p:nvSpPr>
        <p:spPr>
          <a:xfrm>
            <a:off x="7323120" y="1308600"/>
            <a:ext cx="111348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1s for real tokens, 0s for padding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4"/>
          <p:cNvSpPr/>
          <p:nvPr/>
        </p:nvSpPr>
        <p:spPr>
          <a:xfrm>
            <a:off x="5713200" y="1804320"/>
            <a:ext cx="1392120" cy="764280"/>
          </a:xfrm>
          <a:prstGeom prst="roundRect">
            <a:avLst>
              <a:gd name="adj" fmla="val 6174"/>
            </a:avLst>
          </a:prstGeom>
          <a:solidFill>
            <a:srgbClr val="F7F7F7"/>
          </a:solidFill>
          <a:ln w="1440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7"/>
          <p:cNvSpPr/>
          <p:nvPr/>
        </p:nvSpPr>
        <p:spPr>
          <a:xfrm>
            <a:off x="5852880" y="1932840"/>
            <a:ext cx="1113120" cy="14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95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token_type_ids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8"/>
          <p:cNvSpPr/>
          <p:nvPr/>
        </p:nvSpPr>
        <p:spPr>
          <a:xfrm>
            <a:off x="5852880" y="2145240"/>
            <a:ext cx="111312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Segment IDs for text vs. image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5"/>
          <p:cNvSpPr/>
          <p:nvPr/>
        </p:nvSpPr>
        <p:spPr>
          <a:xfrm>
            <a:off x="7183800" y="1804320"/>
            <a:ext cx="1392120" cy="764280"/>
          </a:xfrm>
          <a:prstGeom prst="roundRect">
            <a:avLst>
              <a:gd name="adj" fmla="val 6174"/>
            </a:avLst>
          </a:prstGeom>
          <a:solidFill>
            <a:srgbClr val="F7F7F7"/>
          </a:solidFill>
          <a:ln w="1440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9"/>
          <p:cNvSpPr/>
          <p:nvPr/>
        </p:nvSpPr>
        <p:spPr>
          <a:xfrm>
            <a:off x="7323120" y="1932840"/>
            <a:ext cx="1113480" cy="14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95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pixel_values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60"/>
          <p:cNvSpPr/>
          <p:nvPr/>
        </p:nvSpPr>
        <p:spPr>
          <a:xfrm>
            <a:off x="7323120" y="2145240"/>
            <a:ext cx="111348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Normalized image patches tensor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6"/>
          <p:cNvSpPr/>
          <p:nvPr/>
        </p:nvSpPr>
        <p:spPr>
          <a:xfrm>
            <a:off x="5713200" y="2640960"/>
            <a:ext cx="2862720" cy="616680"/>
          </a:xfrm>
          <a:prstGeom prst="roundRect">
            <a:avLst>
              <a:gd name="adj" fmla="val 7649"/>
            </a:avLst>
          </a:prstGeom>
          <a:solidFill>
            <a:srgbClr val="F7F7F7"/>
          </a:solidFill>
          <a:ln w="1440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61"/>
          <p:cNvSpPr/>
          <p:nvPr/>
        </p:nvSpPr>
        <p:spPr>
          <a:xfrm>
            <a:off x="5852880" y="2769120"/>
            <a:ext cx="1217880" cy="14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95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pixel_mask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2"/>
          <p:cNvSpPr/>
          <p:nvPr/>
        </p:nvSpPr>
        <p:spPr>
          <a:xfrm>
            <a:off x="5852880" y="2981880"/>
            <a:ext cx="2583720" cy="14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00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Mask for valid image regions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63"/>
          <p:cNvSpPr/>
          <p:nvPr/>
        </p:nvSpPr>
        <p:spPr>
          <a:xfrm>
            <a:off x="1577880" y="349920"/>
            <a:ext cx="2467440" cy="30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1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Pipeline Summary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1577880" y="834480"/>
            <a:ext cx="493200" cy="743760"/>
          </a:xfrm>
          <a:prstGeom prst="roundRect">
            <a:avLst>
              <a:gd name="adj" fmla="val 360000"/>
            </a:avLst>
          </a:prstGeom>
          <a:solidFill>
            <a:srgbClr val="E6E6E6"/>
          </a:solidFill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4"/>
          <p:cNvSpPr/>
          <p:nvPr/>
        </p:nvSpPr>
        <p:spPr>
          <a:xfrm>
            <a:off x="1732320" y="1090800"/>
            <a:ext cx="18432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5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5"/>
          <p:cNvSpPr/>
          <p:nvPr/>
        </p:nvSpPr>
        <p:spPr>
          <a:xfrm>
            <a:off x="2158200" y="959040"/>
            <a:ext cx="123372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04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Load Dataset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6"/>
          <p:cNvSpPr/>
          <p:nvPr/>
        </p:nvSpPr>
        <p:spPr>
          <a:xfrm>
            <a:off x="2158200" y="1166040"/>
            <a:ext cx="623052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5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load_dataset</a:t>
            </a: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with train/val/test splits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8"/>
          <p:cNvSpPr/>
          <p:nvPr/>
        </p:nvSpPr>
        <p:spPr>
          <a:xfrm>
            <a:off x="1577880" y="1666080"/>
            <a:ext cx="493200" cy="744120"/>
          </a:xfrm>
          <a:prstGeom prst="roundRect">
            <a:avLst>
              <a:gd name="adj" fmla="val 360000"/>
            </a:avLst>
          </a:prstGeom>
          <a:solidFill>
            <a:srgbClr val="E6E6E6"/>
          </a:solidFill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7"/>
          <p:cNvSpPr/>
          <p:nvPr/>
        </p:nvSpPr>
        <p:spPr>
          <a:xfrm>
            <a:off x="1732320" y="1922040"/>
            <a:ext cx="18432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5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8"/>
          <p:cNvSpPr/>
          <p:nvPr/>
        </p:nvSpPr>
        <p:spPr>
          <a:xfrm>
            <a:off x="2158200" y="1790280"/>
            <a:ext cx="123372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04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Clean Text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9"/>
          <p:cNvSpPr/>
          <p:nvPr/>
        </p:nvSpPr>
        <p:spPr>
          <a:xfrm>
            <a:off x="2158200" y="1998000"/>
            <a:ext cx="623052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5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Lowercase, strip, collapse whitespace, remove punctuation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9"/>
          <p:cNvSpPr/>
          <p:nvPr/>
        </p:nvSpPr>
        <p:spPr>
          <a:xfrm>
            <a:off x="1577880" y="2498040"/>
            <a:ext cx="493200" cy="744120"/>
          </a:xfrm>
          <a:prstGeom prst="roundRect">
            <a:avLst>
              <a:gd name="adj" fmla="val 360000"/>
            </a:avLst>
          </a:prstGeom>
          <a:solidFill>
            <a:srgbClr val="E6E6E6"/>
          </a:solidFill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0"/>
          <p:cNvSpPr/>
          <p:nvPr/>
        </p:nvSpPr>
        <p:spPr>
          <a:xfrm>
            <a:off x="1732320" y="2753640"/>
            <a:ext cx="18432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5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71"/>
          <p:cNvSpPr/>
          <p:nvPr/>
        </p:nvSpPr>
        <p:spPr>
          <a:xfrm>
            <a:off x="2158200" y="2621880"/>
            <a:ext cx="123372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04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Build Vocabulary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72"/>
          <p:cNvSpPr/>
          <p:nvPr/>
        </p:nvSpPr>
        <p:spPr>
          <a:xfrm>
            <a:off x="2158200" y="2829600"/>
            <a:ext cx="6230520" cy="16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51"/>
              </a:lnSpc>
              <a:tabLst>
                <a:tab pos="0" algn="l"/>
              </a:tabLst>
            </a:pPr>
            <a:r>
              <a:rPr lang="en-US" sz="1000">
                <a:solidFill>
                  <a:srgbClr val="383838"/>
                </a:solidFill>
                <a:latin typeface="Patrick Hand"/>
                <a:ea typeface="Patrick Hand"/>
              </a:rPr>
              <a:t>Top-1,250</a:t>
            </a: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answers → </a:t>
            </a:r>
            <a:r>
              <a:rPr lang="en-US" sz="1000" b="0" u="none" strike="noStrike" dirty="0">
                <a:solidFill>
                  <a:srgbClr val="383838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answer2id</a:t>
            </a:r>
            <a:r>
              <a:rPr lang="en-US" sz="1000" b="0" u="none" strike="noStrike" dirty="0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/ </a:t>
            </a:r>
            <a:r>
              <a:rPr lang="en-US" sz="1000" b="0" u="none" strike="noStrike" dirty="0">
                <a:solidFill>
                  <a:srgbClr val="383838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id2answer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0"/>
          <p:cNvSpPr/>
          <p:nvPr/>
        </p:nvSpPr>
        <p:spPr>
          <a:xfrm>
            <a:off x="1577880" y="3329640"/>
            <a:ext cx="493200" cy="743760"/>
          </a:xfrm>
          <a:prstGeom prst="roundRect">
            <a:avLst>
              <a:gd name="adj" fmla="val 360000"/>
            </a:avLst>
          </a:prstGeom>
          <a:solidFill>
            <a:srgbClr val="E6E6E6"/>
          </a:solidFill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3"/>
          <p:cNvSpPr/>
          <p:nvPr/>
        </p:nvSpPr>
        <p:spPr>
          <a:xfrm>
            <a:off x="1732320" y="3585600"/>
            <a:ext cx="18432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5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4"/>
          <p:cNvSpPr/>
          <p:nvPr/>
        </p:nvSpPr>
        <p:spPr>
          <a:xfrm>
            <a:off x="2158200" y="3453840"/>
            <a:ext cx="123372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04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Filter &amp; Label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5"/>
          <p:cNvSpPr/>
          <p:nvPr/>
        </p:nvSpPr>
        <p:spPr>
          <a:xfrm>
            <a:off x="2158200" y="3661200"/>
            <a:ext cx="623052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5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Drop rare answers, add integer </a:t>
            </a:r>
            <a:r>
              <a:rPr lang="en-US" sz="1000" b="0" u="none" strike="noStrike">
                <a:solidFill>
                  <a:srgbClr val="383838"/>
                </a:solidFill>
                <a:effectLst/>
                <a:highlight>
                  <a:srgbClr val="EAEAEA"/>
                </a:highlight>
                <a:uFillTx/>
                <a:latin typeface="Consolas"/>
                <a:ea typeface="Consolas"/>
              </a:rPr>
              <a:t>label</a:t>
            </a: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 field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1"/>
          <p:cNvSpPr/>
          <p:nvPr/>
        </p:nvSpPr>
        <p:spPr>
          <a:xfrm>
            <a:off x="1577880" y="4161240"/>
            <a:ext cx="493200" cy="744120"/>
          </a:xfrm>
          <a:prstGeom prst="roundRect">
            <a:avLst>
              <a:gd name="adj" fmla="val 360000"/>
            </a:avLst>
          </a:prstGeom>
          <a:solidFill>
            <a:srgbClr val="E6E6E6"/>
          </a:solidFill>
          <a:ln w="468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76"/>
          <p:cNvSpPr/>
          <p:nvPr/>
        </p:nvSpPr>
        <p:spPr>
          <a:xfrm>
            <a:off x="1732320" y="4416840"/>
            <a:ext cx="18432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5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77"/>
          <p:cNvSpPr/>
          <p:nvPr/>
        </p:nvSpPr>
        <p:spPr>
          <a:xfrm>
            <a:off x="2158200" y="4285080"/>
            <a:ext cx="123372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04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ViLT Preprocessing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8"/>
          <p:cNvSpPr/>
          <p:nvPr/>
        </p:nvSpPr>
        <p:spPr>
          <a:xfrm>
            <a:off x="2158200" y="4492440"/>
            <a:ext cx="6230520" cy="16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51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83838"/>
                </a:solidFill>
                <a:effectLst/>
                <a:uFillTx/>
                <a:latin typeface="Patrick Hand"/>
                <a:ea typeface="Patrick Hand"/>
              </a:rPr>
              <a:t>Tokenize questions + patch images → PyTorch tensors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2"/>
          <p:cNvSpPr/>
          <p:nvPr/>
        </p:nvSpPr>
        <p:spPr>
          <a:xfrm>
            <a:off x="1577880" y="5003640"/>
            <a:ext cx="6810840" cy="427320"/>
          </a:xfrm>
          <a:prstGeom prst="roundRect">
            <a:avLst>
              <a:gd name="adj" fmla="val 12184"/>
            </a:avLst>
          </a:prstGeom>
          <a:solidFill>
            <a:srgbClr val="B6F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10" descr="preencoded.png"/>
          <p:cNvPicPr/>
          <p:nvPr/>
        </p:nvPicPr>
        <p:blipFill>
          <a:blip r:embed="rId2"/>
          <a:stretch/>
        </p:blipFill>
        <p:spPr>
          <a:xfrm>
            <a:off x="1701360" y="5181120"/>
            <a:ext cx="153720" cy="1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79"/>
          <p:cNvSpPr/>
          <p:nvPr/>
        </p:nvSpPr>
        <p:spPr>
          <a:xfrm>
            <a:off x="1978920" y="5122080"/>
            <a:ext cx="628632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51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The processed dataset is now ready for fine-tuning </a:t>
            </a:r>
            <a:r>
              <a:rPr lang="en-US" sz="850" b="1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ViLT</a:t>
            </a:r>
            <a:r>
              <a:rPr lang="en-US" sz="850" b="0" u="none" strike="noStrike">
                <a:solidFill>
                  <a:srgbClr val="000000"/>
                </a:solidFill>
                <a:effectLst/>
                <a:uFillTx/>
                <a:latin typeface="Patrick Hand"/>
                <a:ea typeface="Patrick Hand"/>
              </a:rPr>
              <a:t> on PathVQA as a closed-set classification task over 8,000 answer classes.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13</cp:revision>
  <dcterms:created xsi:type="dcterms:W3CDTF">2026-05-06T14:00:10Z</dcterms:created>
  <dcterms:modified xsi:type="dcterms:W3CDTF">2026-05-09T18:43:27Z</dcterms:modified>
  <dc:language>en-US</dc:language>
</cp:coreProperties>
</file>